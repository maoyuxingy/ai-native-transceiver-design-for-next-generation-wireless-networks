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83" d="100"/>
          <a:sy n="83" d="100"/>
        </p:scale>
        <p:origin x="408" y="5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566165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A, 0:00-0:10. Introduce both of us and the project in one sentence: using deep learning to redesign a wireless transceiver.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A, 0:10-0:40. The two objections lead to the two questions. Do not read the cards out; say them in your own words.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A, 0:40-2:00. The heart of your section. Land 1.76 dB and say the sentence about understating our own noise - it sets up your skill at 3:20.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B, 2:00-2:30.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B, 2:30-3:00. The point is the vertical gap between the AWGN block and the Rayleigh block, not the differences inside either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B, 3:00-3:20. This is the result the project turns on. Say both numbers.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A, 3:20-4:20. Tell it as a story. The "Beyond LivSURF" panel is the half the marking scheme asks for, so do not skip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B, 4:20-5:20. Same shape as slide 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 and B, 5:20-6:00. A takes the left, B takes the right, then thank the audience.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3B6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1965960"/>
            <a:ext cx="10820095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Cambria"/>
              </a:rPr>
              <a:t>AI-Native Transceiver Design
for Next-Generation Wireless Networks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3977639"/>
            <a:ext cx="10820095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CADCFC"/>
                </a:solidFill>
                <a:latin typeface="Calibri"/>
              </a:rPr>
              <a:t>Yuxing Mao  and  Haikun Xu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4526280"/>
            <a:ext cx="1082009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A9C3DC"/>
                </a:solidFill>
                <a:latin typeface="Calibri"/>
              </a:rPr>
              <a:t>Supervisor: Dr Huynh Nguyen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A9C3DC"/>
                </a:solidFill>
                <a:latin typeface="Calibri"/>
              </a:rPr>
              <a:t>LivSURF 436026  ·  School of Computer Science and Informatics</a:t>
            </a:r>
          </a:p>
        </p:txBody>
      </p:sp>
      <p:pic>
        <p:nvPicPr>
          <p:cNvPr id="5" name="Picture 4" descr="uol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640080"/>
            <a:ext cx="2218904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66928"/>
            <a:ext cx="10820095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>
                <a:solidFill>
                  <a:srgbClr val="1F3B63"/>
                </a:solidFill>
                <a:latin typeface="Cambria"/>
              </a:rPr>
              <a:t>The problem, and what we asked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63040"/>
            <a:ext cx="5486400" cy="2011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600" b="0">
                <a:solidFill>
                  <a:srgbClr val="1B1A18"/>
                </a:solidFill>
                <a:latin typeface="Calibri"/>
              </a:rPr>
              <a:t>A conventional transceiver design treats coding, modulation, channel estimation and detection as separate blocks.</a:t>
            </a:r>
          </a:p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600" b="0">
                <a:solidFill>
                  <a:srgbClr val="1B1A18"/>
                </a:solidFill>
                <a:latin typeface="Calibri"/>
              </a:rPr>
              <a:t>Each block is optimal for its own task, but not for the system as a whole. Consequently, the end-to-end performance is limited.</a:t>
            </a:r>
          </a:p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600" b="0">
                <a:solidFill>
                  <a:srgbClr val="1B1A18"/>
                </a:solidFill>
                <a:latin typeface="Calibri"/>
              </a:rPr>
              <a:t>Instead, the transmitter and receiver blocks can be replaced by deep neural networks, jointly optimised as an autoencoder.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3977639"/>
            <a:ext cx="5486400" cy="960120"/>
          </a:xfrm>
          <a:prstGeom prst="roundRect">
            <a:avLst>
              <a:gd name="adj" fmla="val 6000"/>
            </a:avLst>
          </a:prstGeom>
          <a:solidFill>
            <a:srgbClr val="EC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60120" y="4178808"/>
            <a:ext cx="493776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0">
                <a:solidFill>
                  <a:srgbClr val="1B1A18"/>
                </a:solidFill>
                <a:latin typeface="Calibri"/>
              </a:rPr>
              <a:t>Training needs a differentiable channel model. In practice the channel is a black box: only its inputs and outputs can be observed.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5120640"/>
            <a:ext cx="5486400" cy="960120"/>
          </a:xfrm>
          <a:prstGeom prst="roundRect">
            <a:avLst>
              <a:gd name="adj" fmla="val 6000"/>
            </a:avLst>
          </a:prstGeom>
          <a:solidFill>
            <a:srgbClr val="EC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60120" y="5321808"/>
            <a:ext cx="493776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0">
                <a:solidFill>
                  <a:srgbClr val="1B1A18"/>
                </a:solidFill>
                <a:latin typeface="Calibri"/>
              </a:rPr>
              <a:t>Gains are usually shown on AWGN, where the classical receiver is already optimal.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0" y="1463040"/>
            <a:ext cx="475488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2000" b="1">
                <a:solidFill>
                  <a:srgbClr val="1F3B63"/>
                </a:solidFill>
                <a:latin typeface="Cambria"/>
              </a:rPr>
              <a:t>Research questions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0" y="2103120"/>
            <a:ext cx="64008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1F3B63"/>
                </a:solidFill>
                <a:latin typeface="Cambri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52360" y="2148840"/>
            <a:ext cx="40690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B1A18"/>
                </a:solidFill>
                <a:latin typeface="Calibri"/>
              </a:rPr>
              <a:t>How much is learning worth?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52360" y="2578608"/>
            <a:ext cx="40690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>
                <a:solidFill>
                  <a:srgbClr val="57534B"/>
                </a:solidFill>
                <a:latin typeface="Calibri"/>
              </a:rPr>
              <a:t>Measured against a classical receiver that is already doing its best.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6560" y="3749039"/>
            <a:ext cx="64008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A8571F"/>
                </a:solidFill>
                <a:latin typeface="Cambria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52360" y="3794759"/>
            <a:ext cx="40690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B1A18"/>
                </a:solidFill>
                <a:latin typeface="Calibri"/>
              </a:rPr>
              <a:t>Can the end-to-end system train with no channel model?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52360" y="4590287"/>
            <a:ext cx="40690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>
                <a:solidFill>
                  <a:srgbClr val="57534B"/>
                </a:solidFill>
                <a:latin typeface="Calibri"/>
              </a:rPr>
              <a:t>The channel is sampled, never differentiated.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66928"/>
            <a:ext cx="10820095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>
                <a:solidFill>
                  <a:srgbClr val="1F3B63"/>
                </a:solidFill>
                <a:latin typeface="Cambria"/>
              </a:rPr>
              <a:t>Making the comparison fair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85800" y="1508760"/>
            <a:ext cx="1783080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1F3B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0">
                <a:solidFill>
                  <a:srgbClr val="1B1A18"/>
                </a:solidFill>
                <a:latin typeface="Calibri"/>
              </a:rPr>
              <a:t>LDPC
encoder</a:t>
            </a:r>
          </a:p>
        </p:txBody>
      </p:sp>
      <p:sp>
        <p:nvSpPr>
          <p:cNvPr id="4" name="Right Arrow 3"/>
          <p:cNvSpPr/>
          <p:nvPr/>
        </p:nvSpPr>
        <p:spPr>
          <a:xfrm>
            <a:off x="2551176" y="1856231"/>
            <a:ext cx="219456" cy="219456"/>
          </a:xfrm>
          <a:prstGeom prst="rightArrow">
            <a:avLst/>
          </a:prstGeom>
          <a:solidFill>
            <a:srgbClr val="1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2852928" y="1508760"/>
            <a:ext cx="1783080" cy="1051560"/>
          </a:xfrm>
          <a:prstGeom prst="roundRect">
            <a:avLst>
              <a:gd name="adj" fmla="val 10000"/>
            </a:avLst>
          </a:prstGeom>
          <a:solidFill>
            <a:srgbClr val="ECEFF4"/>
          </a:solidFill>
          <a:ln w="15875">
            <a:solidFill>
              <a:srgbClr val="1F3B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1F3B63"/>
                </a:solidFill>
                <a:latin typeface="Calibri"/>
              </a:rPr>
              <a:t>Mapper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718304" y="1856231"/>
            <a:ext cx="219456" cy="219456"/>
          </a:xfrm>
          <a:prstGeom prst="rightArrow">
            <a:avLst/>
          </a:prstGeom>
          <a:solidFill>
            <a:srgbClr val="1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5020056" y="1508760"/>
            <a:ext cx="1783080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1F3B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0">
                <a:solidFill>
                  <a:srgbClr val="1B1A18"/>
                </a:solidFill>
                <a:latin typeface="Calibri"/>
              </a:rPr>
              <a:t>Channel</a:t>
            </a:r>
          </a:p>
        </p:txBody>
      </p:sp>
      <p:sp>
        <p:nvSpPr>
          <p:cNvPr id="8" name="Right Arrow 7"/>
          <p:cNvSpPr/>
          <p:nvPr/>
        </p:nvSpPr>
        <p:spPr>
          <a:xfrm>
            <a:off x="6885432" y="1856231"/>
            <a:ext cx="219456" cy="219456"/>
          </a:xfrm>
          <a:prstGeom prst="rightArrow">
            <a:avLst/>
          </a:prstGeom>
          <a:solidFill>
            <a:srgbClr val="1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7187184" y="1508760"/>
            <a:ext cx="1783080" cy="1051560"/>
          </a:xfrm>
          <a:prstGeom prst="roundRect">
            <a:avLst>
              <a:gd name="adj" fmla="val 10000"/>
            </a:avLst>
          </a:prstGeom>
          <a:solidFill>
            <a:srgbClr val="ECEFF4"/>
          </a:solidFill>
          <a:ln w="15875">
            <a:solidFill>
              <a:srgbClr val="1F3B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1F3B63"/>
                </a:solidFill>
                <a:latin typeface="Calibri"/>
              </a:rPr>
              <a:t>Demapper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9052560" y="1856231"/>
            <a:ext cx="219456" cy="219456"/>
          </a:xfrm>
          <a:prstGeom prst="rightArrow">
            <a:avLst/>
          </a:prstGeom>
          <a:solidFill>
            <a:srgbClr val="1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9354312" y="1508760"/>
            <a:ext cx="1783080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1F3B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0">
                <a:solidFill>
                  <a:srgbClr val="1B1A18"/>
                </a:solidFill>
                <a:latin typeface="Calibri"/>
              </a:rPr>
              <a:t>LDPC
decoder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743200"/>
            <a:ext cx="1082009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7534B"/>
                </a:solidFill>
                <a:latin typeface="Calibri"/>
              </a:rPr>
              <a:t>Only the two shaded blocks differ. Same LDPC code, same channel, same random seeds, and both systems evaluated on the same terms.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566160"/>
            <a:ext cx="53949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1">
                <a:solidFill>
                  <a:srgbClr val="1F3B63"/>
                </a:solidFill>
                <a:latin typeface="Cambria"/>
              </a:rPr>
              <a:t>Pilots are not free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4114800"/>
            <a:ext cx="5394960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500" b="0">
                <a:solidFill>
                  <a:srgbClr val="1B1A18"/>
                </a:solidFill>
                <a:latin typeface="Calibri"/>
              </a:rPr>
              <a:t>They occupy symbol slots, so the effective code rate falls to R(L-P)/L.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500" b="0">
                <a:solidFill>
                  <a:srgbClr val="1B1A18"/>
                </a:solidFill>
                <a:latin typeface="Calibri"/>
              </a:rPr>
              <a:t>The channel estimate is imperfect, which adds noise: a factor of (1+1/P).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66560" y="3520440"/>
            <a:ext cx="3017520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4600" b="1">
                <a:solidFill>
                  <a:srgbClr val="A8571F"/>
                </a:solidFill>
                <a:latin typeface="Cambria"/>
              </a:rPr>
              <a:t>1.76 dB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66560" y="4196080"/>
            <a:ext cx="301752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>
                <a:solidFill>
                  <a:srgbClr val="57534B"/>
                </a:solidFill>
                <a:latin typeface="Calibri"/>
              </a:rPr>
              <a:t>what that factor is worth at two pilots. Before we added it, we were understating our own noise.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66560" y="5257800"/>
            <a:ext cx="3017520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4600" b="1">
                <a:solidFill>
                  <a:srgbClr val="1F3B63"/>
                </a:solidFill>
                <a:latin typeface="Cambria"/>
              </a:rPr>
              <a:t>64,000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66560" y="5933440"/>
            <a:ext cx="301752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>
                <a:solidFill>
                  <a:srgbClr val="57534B"/>
                </a:solidFill>
                <a:latin typeface="Calibri"/>
              </a:rPr>
              <a:t>codewords per SNR point. Points with fewer than 30 block errors are dropped, not plotted.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66928"/>
            <a:ext cx="10820095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>
                <a:solidFill>
                  <a:srgbClr val="1F3B63"/>
                </a:solidFill>
                <a:latin typeface="Cambria"/>
              </a:rPr>
              <a:t>On AWGN, learning wins, and the transmitter is why</a:t>
            </a:r>
          </a:p>
        </p:txBody>
      </p:sp>
      <p:pic>
        <p:nvPicPr>
          <p:cNvPr id="3" name="Picture 2" descr="awgn_ae_vs_qam_pos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98470" y="1508760"/>
            <a:ext cx="6794754" cy="2971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5800" y="4892040"/>
            <a:ext cx="5303520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500" b="0">
                <a:solidFill>
                  <a:srgbClr val="1B1A18"/>
                </a:solidFill>
                <a:latin typeface="Calibri"/>
              </a:rPr>
              <a:t>A posteriori probability (APP) demapping is already optimal here, so the receiver cannot be the source of the gain.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500" b="0">
                <a:solidFill>
                  <a:srgbClr val="1B1A18"/>
                </a:solidFill>
                <a:latin typeface="Calibri"/>
              </a:rPr>
              <a:t>It comes from the transmitter. The learned constellation leaves the regular lattice and spends more power on the symbols that are most often confused.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5029200"/>
            <a:ext cx="3017520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5000" b="1">
                <a:solidFill>
                  <a:srgbClr val="2E6F55"/>
                </a:solidFill>
                <a:latin typeface="Cambria"/>
              </a:rPr>
              <a:t>0.37 dB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03920" y="5755640"/>
            <a:ext cx="301752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>
                <a:solidFill>
                  <a:srgbClr val="57534B"/>
                </a:solidFill>
                <a:latin typeface="Calibri"/>
              </a:rPr>
              <a:t>gain over classical 64-QAM at BER 1e-2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66928"/>
            <a:ext cx="10820095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>
                <a:solidFill>
                  <a:srgbClr val="1F3B63"/>
                </a:solidFill>
                <a:latin typeface="Cambria"/>
              </a:rPr>
              <a:t>Under fading, the gain disappears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85800" y="1554480"/>
          <a:ext cx="694944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83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System</a:t>
                      </a:r>
                    </a:p>
                  </a:txBody>
                  <a:tcPr marL="73152" marR="73152" anchor="ctr">
                    <a:solidFill>
                      <a:srgbClr val="1F3B6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1e-2</a:t>
                      </a:r>
                    </a:p>
                  </a:txBody>
                  <a:tcPr marL="73152" marR="73152" anchor="ctr">
                    <a:solidFill>
                      <a:srgbClr val="1F3B6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1e-3</a:t>
                      </a:r>
                    </a:p>
                  </a:txBody>
                  <a:tcPr marL="73152" marR="73152" anchor="ctr">
                    <a:solidFill>
                      <a:srgbClr val="1F3B6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1e-4</a:t>
                      </a:r>
                    </a:p>
                  </a:txBody>
                  <a:tcPr marL="73152" marR="73152" anchor="ctr">
                    <a:solidFill>
                      <a:srgbClr val="1F3B6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B1A18"/>
                          </a:solidFill>
                          <a:latin typeface="Calibri"/>
                        </a:rPr>
                        <a:t>AWGN, classical 64-QAM + APP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B1A18"/>
                          </a:solidFill>
                          <a:latin typeface="Calibri"/>
                        </a:rPr>
                        <a:t>5.67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B1A18"/>
                          </a:solidFill>
                          <a:latin typeface="Calibri"/>
                        </a:rPr>
                        <a:t>6.17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B1A18"/>
                          </a:solidFill>
                          <a:latin typeface="Calibri"/>
                        </a:rPr>
                        <a:t>6.54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B1A18"/>
                          </a:solidFill>
                          <a:latin typeface="Calibri"/>
                        </a:rPr>
                        <a:t>AWGN, learned (channel gradient)</a:t>
                      </a:r>
                    </a:p>
                  </a:txBody>
                  <a:tcPr marL="73152" marR="73152" anchor="ctr">
                    <a:solidFill>
                      <a:srgbClr val="ECEFF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B1A18"/>
                          </a:solidFill>
                          <a:latin typeface="Calibri"/>
                        </a:rPr>
                        <a:t>5.30</a:t>
                      </a:r>
                    </a:p>
                  </a:txBody>
                  <a:tcPr marL="73152" marR="73152" anchor="ctr">
                    <a:solidFill>
                      <a:srgbClr val="ECEFF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B1A18"/>
                          </a:solidFill>
                          <a:latin typeface="Calibri"/>
                        </a:rPr>
                        <a:t>5.78</a:t>
                      </a:r>
                    </a:p>
                  </a:txBody>
                  <a:tcPr marL="73152" marR="73152" anchor="ctr">
                    <a:solidFill>
                      <a:srgbClr val="ECEFF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B1A18"/>
                          </a:solidFill>
                          <a:latin typeface="Calibri"/>
                        </a:rPr>
                        <a:t>6.18</a:t>
                      </a:r>
                    </a:p>
                  </a:txBody>
                  <a:tcPr marL="73152" marR="73152" anchor="ctr">
                    <a:solidFill>
                      <a:srgbClr val="ECEF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B1A18"/>
                          </a:solidFill>
                          <a:latin typeface="Calibri"/>
                        </a:rPr>
                        <a:t>AWGN, learned (RL, no channel model)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B1A18"/>
                          </a:solidFill>
                          <a:latin typeface="Calibri"/>
                        </a:rPr>
                        <a:t>5.42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B1A18"/>
                          </a:solidFill>
                          <a:latin typeface="Calibri"/>
                        </a:rPr>
                        <a:t>5.92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B1A18"/>
                          </a:solidFill>
                          <a:latin typeface="Calibri"/>
                        </a:rPr>
                        <a:t>6.31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B1A18"/>
                          </a:solidFill>
                          <a:latin typeface="Calibri"/>
                        </a:rPr>
                        <a:t>Rayleigh, classical 64-QAM + APP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B1A18"/>
                          </a:solidFill>
                          <a:latin typeface="Calibri"/>
                        </a:rPr>
                        <a:t>11.26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B1A18"/>
                          </a:solidFill>
                          <a:latin typeface="Calibri"/>
                        </a:rPr>
                        <a:t>13.30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B1A18"/>
                          </a:solidFill>
                          <a:latin typeface="Calibri"/>
                        </a:rPr>
                        <a:t>14.79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B1A18"/>
                          </a:solidFill>
                          <a:latin typeface="Calibri"/>
                        </a:rPr>
                        <a:t>Rayleigh, learned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B1A18"/>
                          </a:solidFill>
                          <a:latin typeface="Calibri"/>
                        </a:rPr>
                        <a:t>11.25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B1A18"/>
                          </a:solidFill>
                          <a:latin typeface="Calibri"/>
                        </a:rPr>
                        <a:t>13.19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B1A18"/>
                          </a:solidFill>
                          <a:latin typeface="Calibri"/>
                        </a:rPr>
                        <a:t>14.94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85800" y="4983480"/>
            <a:ext cx="69494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57534B"/>
                </a:solidFill>
                <a:latin typeface="Calibri"/>
              </a:rPr>
              <a:t>Eb/N0 needed to reach a given bit error rate, in dB. Lower is better.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00200"/>
            <a:ext cx="3474720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A8571F"/>
                </a:solidFill>
                <a:latin typeface="Cambria"/>
              </a:rPr>
              <a:t>5.9 to 8.8 dB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2123440"/>
            <a:ext cx="347472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>
                <a:solidFill>
                  <a:srgbClr val="57534B"/>
                </a:solidFill>
                <a:latin typeface="Calibri"/>
              </a:rPr>
              <a:t>the cost of fading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3063240"/>
            <a:ext cx="3474720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1F3B63"/>
                </a:solidFill>
                <a:latin typeface="Cambria"/>
              </a:rPr>
              <a:t>under 0.4 dB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3586480"/>
            <a:ext cx="347472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>
                <a:solidFill>
                  <a:srgbClr val="57534B"/>
                </a:solidFill>
                <a:latin typeface="Calibri"/>
              </a:rPr>
              <a:t>what changing the receiver is worth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4526280"/>
            <a:ext cx="3474720" cy="1645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50" b="0">
                <a:solidFill>
                  <a:srgbClr val="57534B"/>
                </a:solidFill>
                <a:latin typeface="Calibri"/>
              </a:rPr>
              <a:t>Under Rayleigh with estimated CSI there is a small gain at 1e-2 and 1e-3, of 0.01 and 0.11 dB, and a loss of 0.15 dB at 1e-4.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66928"/>
            <a:ext cx="10820095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>
                <a:solidFill>
                  <a:srgbClr val="1F3B63"/>
                </a:solidFill>
                <a:latin typeface="Cambria"/>
              </a:rPr>
              <a:t>Training with no channel model at all</a:t>
            </a:r>
          </a:p>
        </p:txBody>
      </p:sp>
      <p:pic>
        <p:nvPicPr>
          <p:cNvPr id="3" name="Picture 2" descr="rl_vs_gradient_awg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78046" y="1463040"/>
            <a:ext cx="7235603" cy="2880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5800" y="4709160"/>
            <a:ext cx="6035040" cy="1554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500" b="0">
                <a:solidFill>
                  <a:srgbClr val="1B1A18"/>
                </a:solidFill>
                <a:latin typeface="Calibri"/>
              </a:rPr>
              <a:t>There is no channel layer connecting the two neural networks, because the channel is not differentiable.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500" b="0">
                <a:solidFill>
                  <a:srgbClr val="1B1A18"/>
                </a:solidFill>
                <a:latin typeface="Calibri"/>
              </a:rPr>
              <a:t>We feed the training loss from the receiver back to the transmitter, which is then trained by reinforcement learning. The two networks are still jointly optimised, without a channel model.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0" y="4617720"/>
            <a:ext cx="3931920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A8571F"/>
                </a:solidFill>
                <a:latin typeface="Cambria"/>
              </a:rPr>
              <a:t>0.12 to 0.14 dB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89520" y="5064760"/>
            <a:ext cx="393192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>
                <a:solidFill>
                  <a:srgbClr val="57534B"/>
                </a:solidFill>
                <a:latin typeface="Calibri"/>
              </a:rPr>
              <a:t>what dropping the channel model costs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0" y="5623560"/>
            <a:ext cx="3931920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2E6F55"/>
                </a:solidFill>
                <a:latin typeface="Cambria"/>
              </a:rPr>
              <a:t>0.23 to 0.25 dB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0" y="6070600"/>
            <a:ext cx="393192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>
                <a:solidFill>
                  <a:srgbClr val="57534B"/>
                </a:solidFill>
                <a:latin typeface="Calibri"/>
              </a:rPr>
              <a:t>still ahead of classical 64-QAM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66928"/>
            <a:ext cx="10820095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>
                <a:solidFill>
                  <a:srgbClr val="1F3B63"/>
                </a:solidFill>
                <a:latin typeface="Cambria"/>
              </a:rPr>
              <a:t>Skill 1  ·  Research rigour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566928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900" b="1">
                <a:solidFill>
                  <a:srgbClr val="A8571F"/>
                </a:solidFill>
                <a:latin typeface="Cambria"/>
              </a:rPr>
              <a:t>Checking the thing that would embarrass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148840"/>
            <a:ext cx="64008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1F3B63"/>
                </a:solidFill>
                <a:latin typeface="Cambria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194560"/>
            <a:ext cx="49834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B1A18"/>
                </a:solidFill>
                <a:latin typeface="Calibri"/>
              </a:rPr>
              <a:t>What happened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2624328"/>
            <a:ext cx="49834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>
                <a:solidFill>
                  <a:srgbClr val="57534B"/>
                </a:solidFill>
                <a:latin typeface="Calibri"/>
              </a:rPr>
              <a:t>Our effective-noise model was missing the (1+1/P) term. Adding it made our own numbers worse.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160520"/>
            <a:ext cx="64008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1F3B63"/>
                </a:solidFill>
                <a:latin typeface="Cambria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4206240"/>
            <a:ext cx="49834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B1A18"/>
                </a:solidFill>
                <a:latin typeface="Calibri"/>
              </a:rPr>
              <a:t>It inverted our own conclusion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4636008"/>
            <a:ext cx="49834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>
                <a:solidFill>
                  <a:srgbClr val="57534B"/>
                </a:solidFill>
                <a:latin typeface="Calibri"/>
              </a:rPr>
              <a:t>Two pilots went from apparently best to measurably worst. We changed it anyway, and wrote a validation cell that tests the model against the simulator.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0" y="2148840"/>
            <a:ext cx="4663440" cy="3840480"/>
          </a:xfrm>
          <a:prstGeom prst="roundRect">
            <a:avLst>
              <a:gd name="adj" fmla="val 6000"/>
            </a:avLst>
          </a:prstGeom>
          <a:solidFill>
            <a:srgbClr val="EC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178040" y="2423160"/>
            <a:ext cx="40233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1">
                <a:solidFill>
                  <a:srgbClr val="1F3B63"/>
                </a:solidFill>
                <a:latin typeface="Cambria"/>
              </a:rPr>
              <a:t>Beyond LivSURF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78040" y="3017520"/>
            <a:ext cx="4023360" cy="2743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900"/>
              </a:spcAft>
            </a:pPr>
            <a:r>
              <a:rPr sz="1400" b="0">
                <a:solidFill>
                  <a:srgbClr val="1B1A18"/>
                </a:solidFill>
                <a:latin typeface="Calibri"/>
              </a:rPr>
              <a:t>In research and in industry you will get results that favour you.</a:t>
            </a:r>
          </a:p>
          <a:p>
            <a:pPr algn="l">
              <a:lnSpc>
                <a:spcPct val="130000"/>
              </a:lnSpc>
              <a:spcAft>
                <a:spcPts val="900"/>
              </a:spcAft>
            </a:pPr>
            <a:r>
              <a:rPr sz="1400" b="0">
                <a:solidFill>
                  <a:srgbClr val="1B1A18"/>
                </a:solidFill>
                <a:latin typeface="Calibri"/>
              </a:rPr>
              <a:t>What makes a result trustworthy is whether you were willing to test the thing that would embarrass you.</a:t>
            </a:r>
          </a:p>
          <a:p>
            <a:pPr algn="l">
              <a:lnSpc>
                <a:spcPct val="130000"/>
              </a:lnSpc>
              <a:spcAft>
                <a:spcPts val="900"/>
              </a:spcAft>
            </a:pPr>
            <a:r>
              <a:rPr sz="1400" b="0">
                <a:solidFill>
                  <a:srgbClr val="1B1A18"/>
                </a:solidFill>
                <a:latin typeface="Calibri"/>
              </a:rPr>
              <a:t>Directly useful for postgraduate study, and for any role that works with data.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66928"/>
            <a:ext cx="10820095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>
                <a:solidFill>
                  <a:srgbClr val="1F3B63"/>
                </a:solidFill>
                <a:latin typeface="Cambria"/>
              </a:rPr>
              <a:t>Skill 2  ·  Problem solving under uncertainty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566928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900" b="1">
                <a:solidFill>
                  <a:srgbClr val="2E6F55"/>
                </a:solidFill>
                <a:latin typeface="Cambria"/>
              </a:rPr>
              <a:t>Diagnose by intervention, not by argument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148840"/>
            <a:ext cx="64008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1F3B63"/>
                </a:solidFill>
                <a:latin typeface="Cambria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194560"/>
            <a:ext cx="49834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B1A18"/>
                </a:solidFill>
                <a:latin typeface="Calibri"/>
              </a:rPr>
              <a:t>A curve that could not be real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2624328"/>
            <a:ext cx="49834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>
                <a:solidFill>
                  <a:srgbClr val="57534B"/>
                </a:solidFill>
                <a:latin typeface="Calibri"/>
              </a:rPr>
              <a:t>Reused on a fading channel, the BER rose as the SNR rose. Our first explanation blamed deep fades.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160520"/>
            <a:ext cx="64008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1F3B63"/>
                </a:solidFill>
                <a:latin typeface="Cambria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4206240"/>
            <a:ext cx="49834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B1A18"/>
                </a:solidFill>
                <a:latin typeface="Calibri"/>
              </a:rPr>
              <a:t>We tested instead of arguing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4636008"/>
            <a:ext cx="498348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>
                <a:solidFill>
                  <a:srgbClr val="57534B"/>
                </a:solidFill>
                <a:latin typeface="Calibri"/>
              </a:rPr>
              <a:t>Weights held fixed, one thing changed at a time. Erasing deep fades made it worse. The real cause was the quiet tail: at 18 dB, 89% of symbols were quieter than anything seen in training.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0" y="2148840"/>
            <a:ext cx="4663440" cy="3840480"/>
          </a:xfrm>
          <a:prstGeom prst="roundRect">
            <a:avLst>
              <a:gd name="adj" fmla="val 6000"/>
            </a:avLst>
          </a:prstGeom>
          <a:solidFill>
            <a:srgbClr val="EC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178040" y="2423160"/>
            <a:ext cx="40233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1">
                <a:solidFill>
                  <a:srgbClr val="1F3B63"/>
                </a:solidFill>
                <a:latin typeface="Cambria"/>
              </a:rPr>
              <a:t>Beyond LivSURF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78040" y="3017520"/>
            <a:ext cx="4023360" cy="2743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900"/>
              </a:spcAft>
            </a:pPr>
            <a:r>
              <a:rPr sz="1400" b="0">
                <a:solidFill>
                  <a:srgbClr val="1B1A18"/>
                </a:solidFill>
                <a:latin typeface="Calibri"/>
              </a:rPr>
              <a:t>The first explanation for a bug is usually the most familiar one, not the right one.</a:t>
            </a:r>
          </a:p>
          <a:p>
            <a:pPr algn="l">
              <a:lnSpc>
                <a:spcPct val="130000"/>
              </a:lnSpc>
              <a:spcAft>
                <a:spcPts val="900"/>
              </a:spcAft>
            </a:pPr>
            <a:r>
              <a:rPr sz="1400" b="0">
                <a:solidFill>
                  <a:srgbClr val="1B1A18"/>
                </a:solidFill>
                <a:latin typeface="Calibri"/>
              </a:rPr>
              <a:t>Designing an experiment that can prove yourself wrong is faster than arguing about it.</a:t>
            </a:r>
          </a:p>
          <a:p>
            <a:pPr algn="l">
              <a:lnSpc>
                <a:spcPct val="130000"/>
              </a:lnSpc>
              <a:spcAft>
                <a:spcPts val="900"/>
              </a:spcAft>
            </a:pPr>
            <a:r>
              <a:rPr sz="1400" b="0">
                <a:solidFill>
                  <a:srgbClr val="1B1A18"/>
                </a:solidFill>
                <a:latin typeface="Calibri"/>
              </a:rPr>
              <a:t>That habit transfers to any engineering or analysis work.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3B6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566928"/>
            <a:ext cx="10820095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>
                <a:solidFill>
                  <a:srgbClr val="FFFFFF"/>
                </a:solidFill>
                <a:latin typeface="Cambria"/>
              </a:rPr>
              <a:t>What we take away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737360"/>
            <a:ext cx="5212080" cy="23774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1200"/>
              </a:spcAft>
            </a:pPr>
            <a:r>
              <a:rPr sz="1800" b="0">
                <a:solidFill>
                  <a:srgbClr val="FFFFFF"/>
                </a:solidFill>
                <a:latin typeface="Calibri"/>
              </a:rPr>
              <a:t>Under fading the measured gain is small, and at 1e-4 it goes the other way.</a:t>
            </a:r>
          </a:p>
          <a:p>
            <a:pPr algn="l">
              <a:lnSpc>
                <a:spcPct val="130000"/>
              </a:lnSpc>
              <a:spcAft>
                <a:spcPts val="1200"/>
              </a:spcAft>
            </a:pPr>
            <a:r>
              <a:rPr sz="1800" b="0">
                <a:solidFill>
                  <a:srgbClr val="CADCFC"/>
                </a:solidFill>
                <a:latin typeface="Calibri"/>
              </a:rPr>
              <a:t>That looks like a disappointing result, until you notice the interesting finding was somewhere else entirely.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309360" y="1691640"/>
            <a:ext cx="5212080" cy="3200400"/>
          </a:xfrm>
          <a:prstGeom prst="roundRect">
            <a:avLst>
              <a:gd name="adj" fmla="val 6000"/>
            </a:avLst>
          </a:prstGeom>
          <a:solidFill>
            <a:srgbClr val="2C4E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675120" y="2057400"/>
            <a:ext cx="4480560" cy="2560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14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A measurement that shows little is worth as much as one that shows a lot, provided it is clean enough to trust.</a:t>
            </a:r>
          </a:p>
          <a:p>
            <a:pPr algn="l">
              <a:lnSpc>
                <a:spcPct val="135000"/>
              </a:lnSpc>
              <a:spcAft>
                <a:spcPts val="1400"/>
              </a:spcAft>
            </a:pPr>
            <a:r>
              <a:rPr sz="1600" b="0">
                <a:solidFill>
                  <a:srgbClr val="CADCFC"/>
                </a:solidFill>
                <a:latin typeface="Calibri"/>
              </a:rPr>
              <a:t>The end-to-end system can be trained with no channel model, and we can now say what that costs.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5394960"/>
            <a:ext cx="107899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A9C3DC"/>
                </a:solidFill>
                <a:latin typeface="Calibri"/>
              </a:rPr>
              <a:t>Notebook, figures and measured data: github.com/MaoYuxingy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1111</Words>
  <Application>Microsoft Office PowerPoint</Application>
  <PresentationFormat>Widescreen</PresentationFormat>
  <Paragraphs>113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宇星 茆</cp:lastModifiedBy>
  <cp:revision>1</cp:revision>
  <dcterms:created xsi:type="dcterms:W3CDTF">2013-01-27T09:14:16Z</dcterms:created>
  <dcterms:modified xsi:type="dcterms:W3CDTF">2026-08-31T12:17:50Z</dcterms:modified>
  <cp:category/>
</cp:coreProperties>
</file>