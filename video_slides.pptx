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 0:00-0:10. Introduce both of us and the project in one sentence: using deep learning to redesign a wireless transceiver.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 0:10-0:40. The two objections lead to the two questions. Do not read the cards out; say them in your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 0:40-2:00. The heart of your section. Land 1.76 dB and say the sentence about understating our own noise - it sets up your skill at 3:20.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B, 2:00-2:30.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B, 2:30-3:00. The point is the vertical gap between the AWGN block and the Rayleigh block, not the differences inside either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B, 3:00-3:20. This is the result the project turns on. Say both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 3:20-4:20. Tell it as a story. The "Beyond LivSURF" panel is the half the marking scheme asks for, so do not skip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B, 4:20-5:20. Same shape as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and B, 5:20-6:00. A takes the left, B takes the right, then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65960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AI-Native Transceiver Design
for Next-Generation Wireless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977639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ADCFC"/>
                </a:solidFill>
                <a:latin typeface="Calibri"/>
              </a:rPr>
              <a:t>Yuxing Mao  and  Haikun Xu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262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A9C3DC"/>
                </a:solidFill>
                <a:latin typeface="Calibri"/>
              </a:rPr>
              <a:t>Supervisor: Dr Huynh Nguyen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A9C3DC"/>
                </a:solidFill>
                <a:latin typeface="Calibri"/>
              </a:rPr>
              <a:t>LivSURF 436026  ·  School of Computer Science and Informatics</a:t>
            </a:r>
          </a:p>
        </p:txBody>
      </p:sp>
      <p:pic>
        <p:nvPicPr>
          <p:cNvPr id="5" name="Picture 4" descr="uol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218904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B63"/>
                </a:solidFill>
                <a:latin typeface="Cambria"/>
              </a:rPr>
              <a:t>The problem, and what we asked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0">
                <a:solidFill>
                  <a:srgbClr val="1B1A18"/>
                </a:solidFill>
                <a:latin typeface="Calibri"/>
              </a:rPr>
              <a:t>A transceiver is built as separate blocks: coding, modulation, channel estimation, detection.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0">
                <a:solidFill>
                  <a:srgbClr val="1B1A18"/>
                </a:solidFill>
                <a:latin typeface="Calibri"/>
              </a:rPr>
              <a:t>Each block is optimal on its own. The complete receiver is limited by the assumptions that link them.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0">
                <a:solidFill>
                  <a:srgbClr val="1B1A18"/>
                </a:solidFill>
                <a:latin typeface="Calibri"/>
              </a:rPr>
              <a:t>Deep learning proposes training them together. Two objections are usually raised.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7947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977639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B1A18"/>
                </a:solidFill>
                <a:latin typeface="Calibri"/>
              </a:rPr>
              <a:t>Training needs a differentiable channel model. A real channel is a black 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89204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0749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B1A18"/>
                </a:solidFill>
                <a:latin typeface="Calibri"/>
              </a:rPr>
              <a:t>Gains are usually shown on AWGN, where the classical receiver is already optimal.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463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1F3B63"/>
                </a:solidFill>
                <a:latin typeface="Cambria"/>
              </a:rPr>
              <a:t>Research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3B63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14884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B1A18"/>
                </a:solidFill>
                <a:latin typeface="Calibri"/>
              </a:rPr>
              <a:t>How much is learning worth?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578608"/>
            <a:ext cx="4069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57534B"/>
                </a:solidFill>
                <a:latin typeface="Calibri"/>
              </a:rPr>
              <a:t>Measured against a classical receiver that is already doing its best.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74903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A8571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794759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B1A18"/>
                </a:solidFill>
                <a:latin typeface="Calibri"/>
              </a:rPr>
              <a:t>Can it train with no channel model?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224527"/>
            <a:ext cx="4069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57534B"/>
                </a:solidFill>
                <a:latin typeface="Calibri"/>
              </a:rPr>
              <a:t>The transmitter never differentiates the channel, only samples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B63"/>
                </a:solidFill>
                <a:latin typeface="Cambria"/>
              </a:rPr>
              <a:t>Making the comparison fair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B1A18"/>
                </a:solidFill>
                <a:latin typeface="Calibri"/>
              </a:rPr>
              <a:t>LDPC
encoder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51176" y="1856231"/>
            <a:ext cx="219456" cy="219456"/>
          </a:xfrm>
          <a:prstGeom prst="rightArrow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52928" y="150876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ECEFF4"/>
          </a:solidFill>
          <a:ln w="15875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B63"/>
                </a:solidFill>
                <a:latin typeface="Calibri"/>
              </a:rPr>
              <a:t>Mapper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18304" y="1856231"/>
            <a:ext cx="219456" cy="219456"/>
          </a:xfrm>
          <a:prstGeom prst="rightArrow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0056" y="150876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B1A18"/>
                </a:solidFill>
                <a:latin typeface="Calibri"/>
              </a:rPr>
              <a:t>Channel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885432" y="1856231"/>
            <a:ext cx="219456" cy="219456"/>
          </a:xfrm>
          <a:prstGeom prst="rightArrow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87184" y="150876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ECEFF4"/>
          </a:solidFill>
          <a:ln w="15875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B63"/>
                </a:solidFill>
                <a:latin typeface="Calibri"/>
              </a:rPr>
              <a:t>Demapper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052560" y="1856231"/>
            <a:ext cx="219456" cy="219456"/>
          </a:xfrm>
          <a:prstGeom prst="rightArrow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54312" y="150876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B1A18"/>
                </a:solidFill>
                <a:latin typeface="Calibri"/>
              </a:rPr>
              <a:t>LDPC
decoder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7534B"/>
                </a:solidFill>
                <a:latin typeface="Calibri"/>
              </a:rPr>
              <a:t>Only the two shaded blocks differ. Same LDPC code, same channel, same random seeds.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F3B63"/>
                </a:solidFill>
                <a:latin typeface="Cambria"/>
              </a:rPr>
              <a:t>Pilots are not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1B1A18"/>
                </a:solidFill>
                <a:latin typeface="Calibri"/>
              </a:rPr>
              <a:t>They occupy symbol slots, so the effective code rate falls to R(L-P)/L.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1B1A18"/>
                </a:solidFill>
                <a:latin typeface="Calibri"/>
              </a:rPr>
              <a:t>The channel estimate is imperfect, which adds noise: a factor of (1+1/P).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204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A8571F"/>
                </a:solidFill>
                <a:latin typeface="Cambria"/>
              </a:rPr>
              <a:t>1.76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1960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7534B"/>
                </a:solidFill>
                <a:latin typeface="Calibri"/>
              </a:rPr>
              <a:t>what that factor is worth at two pilots. Before we added it, we were understating our own noise.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25780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1F3B63"/>
                </a:solidFill>
                <a:latin typeface="Cambria"/>
              </a:rPr>
              <a:t>64,000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9334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7534B"/>
                </a:solidFill>
                <a:latin typeface="Calibri"/>
              </a:rPr>
              <a:t>codewords per SNR point. Points with fewer than 30 block errors are dropped, not plotted.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B63"/>
                </a:solidFill>
                <a:latin typeface="Cambria"/>
              </a:rPr>
              <a:t>On AWGN, learning wins, and the transmitter is why</a:t>
            </a:r>
          </a:p>
        </p:txBody>
      </p:sp>
      <p:pic>
        <p:nvPicPr>
          <p:cNvPr id="3" name="Picture 2" descr="awgn_ae_vs_qam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470" y="1508760"/>
            <a:ext cx="6794754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8920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1B1A18"/>
                </a:solidFill>
                <a:latin typeface="Calibri"/>
              </a:rPr>
              <a:t>APP demapping is already optimal here, so the receiver cannot be the source of the gain.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1B1A18"/>
                </a:solidFill>
                <a:latin typeface="Calibri"/>
              </a:rPr>
              <a:t>It comes from the transmitter. The learned constellation leaves the regular lattice and spends more power on the symbols that are most often confused.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502920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>
                <a:solidFill>
                  <a:srgbClr val="2E6F55"/>
                </a:solidFill>
                <a:latin typeface="Cambria"/>
              </a:rPr>
              <a:t>0.37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7556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7534B"/>
                </a:solidFill>
                <a:latin typeface="Calibri"/>
              </a:rPr>
              <a:t>gain over classical 64-QAM at BER 1e-2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B63"/>
                </a:solidFill>
                <a:latin typeface="Cambria"/>
              </a:rPr>
              <a:t>Under fading, the gain disappears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55448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1e-2</a:t>
                      </a:r>
                    </a:p>
                  </a:txBody>
                  <a:tcPr marL="73152" marR="7315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marL="73152" marR="7315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marL="73152" marR="73152" anchor="ctr">
                    <a:solidFill>
                      <a:srgbClr val="1F3B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AWGN, classical 64-QAM + APP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5.67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6.17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6.54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A18"/>
                          </a:solidFill>
                          <a:latin typeface="Calibri"/>
                        </a:rPr>
                        <a:t>AWGN, learned (channel gradient)</a:t>
                      </a:r>
                    </a:p>
                  </a:txBody>
                  <a:tcPr marL="73152" marR="73152"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1A18"/>
                          </a:solidFill>
                          <a:latin typeface="Calibri"/>
                        </a:rPr>
                        <a:t>5.30</a:t>
                      </a:r>
                    </a:p>
                  </a:txBody>
                  <a:tcPr marL="73152" marR="73152"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1A18"/>
                          </a:solidFill>
                          <a:latin typeface="Calibri"/>
                        </a:rPr>
                        <a:t>5.78</a:t>
                      </a:r>
                    </a:p>
                  </a:txBody>
                  <a:tcPr marL="73152" marR="73152" anchor="ctr"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B1A18"/>
                          </a:solidFill>
                          <a:latin typeface="Calibri"/>
                        </a:rPr>
                        <a:t>6.18</a:t>
                      </a:r>
                    </a:p>
                  </a:txBody>
                  <a:tcPr marL="73152" marR="73152" anchor="ctr"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AWGN, learned (RL, no channel model)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5.42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5.92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6.31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Rayleigh, classical 64-QAM + APP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11.26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13.30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14.79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Rayleigh, learned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11.25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13.19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A18"/>
                          </a:solidFill>
                          <a:latin typeface="Calibri"/>
                        </a:rPr>
                        <a:t>14.94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9834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7534B"/>
                </a:solidFill>
                <a:latin typeface="Calibri"/>
              </a:rPr>
              <a:t>Eb/N0 needed to reach a given bit error rate, in dB. Lower is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0020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A8571F"/>
                </a:solidFill>
                <a:latin typeface="Cambria"/>
              </a:rPr>
              <a:t>5.9 to 8.8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12344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7534B"/>
                </a:solidFill>
                <a:latin typeface="Calibri"/>
              </a:rPr>
              <a:t>the cost of fading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06324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3B63"/>
                </a:solidFill>
                <a:latin typeface="Cambria"/>
              </a:rPr>
              <a:t>under 0.4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58648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7534B"/>
                </a:solidFill>
                <a:latin typeface="Calibri"/>
              </a:rPr>
              <a:t>what changing the receiver is 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52628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57534B"/>
                </a:solidFill>
                <a:latin typeface="Calibri"/>
              </a:rPr>
              <a:t>Under Rayleigh with estimated CSI we measured no gain. The value at 1e-4 changed sign between two runs, so we treat it as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B63"/>
                </a:solidFill>
                <a:latin typeface="Cambria"/>
              </a:rPr>
              <a:t>Training with no channel model at all</a:t>
            </a:r>
          </a:p>
        </p:txBody>
      </p:sp>
      <p:pic>
        <p:nvPicPr>
          <p:cNvPr id="3" name="Picture 2" descr="rl_vs_gradient_aw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46" y="1463040"/>
            <a:ext cx="7235603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7091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1B1A18"/>
                </a:solidFill>
                <a:latin typeface="Calibri"/>
              </a:rPr>
              <a:t>The receiver trains as usual, but its gradient never reaches the channel.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1B1A18"/>
                </a:solidFill>
                <a:latin typeface="Calibri"/>
              </a:rPr>
              <a:t>The transmitter perturbs its own symbols, receives one scalar loss value per codeword, and updates from that. The channel is only sampled.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617720"/>
            <a:ext cx="3931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A8571F"/>
                </a:solidFill>
                <a:latin typeface="Cambria"/>
              </a:rPr>
              <a:t>0.12 to 0.14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506476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7534B"/>
                </a:solidFill>
                <a:latin typeface="Calibri"/>
              </a:rPr>
              <a:t>what dropping the channel model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5623560"/>
            <a:ext cx="3931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E6F55"/>
                </a:solidFill>
                <a:latin typeface="Cambria"/>
              </a:rPr>
              <a:t>0.23 to 0.25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60706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7534B"/>
                </a:solidFill>
                <a:latin typeface="Calibri"/>
              </a:rPr>
              <a:t>still ahead of classical 64-QAM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B63"/>
                </a:solidFill>
                <a:latin typeface="Cambria"/>
              </a:rPr>
              <a:t>Skill 1  ·  Research rigour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A8571F"/>
                </a:solidFill>
                <a:latin typeface="Cambria"/>
              </a:rPr>
              <a:t>Checking the thing that would embarrass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3B63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B1A18"/>
                </a:solidFill>
                <a:latin typeface="Calibri"/>
              </a:rPr>
              <a:t>What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24328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57534B"/>
                </a:solidFill>
                <a:latin typeface="Calibri"/>
              </a:rPr>
              <a:t>Our effective-noise model was missing the (1+1/P) term. Adding it made our own numbers worse.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3B63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B1A18"/>
                </a:solidFill>
                <a:latin typeface="Calibri"/>
              </a:rPr>
              <a:t>It inverted our own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36008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57534B"/>
                </a:solidFill>
                <a:latin typeface="Calibri"/>
              </a:rPr>
              <a:t>Two pilots went from apparently best to measurably worst. We changed it anyway, and wrote a validation cell that tests the model against the simulator.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148840"/>
            <a:ext cx="4663440" cy="3840480"/>
          </a:xfrm>
          <a:prstGeom prst="roundRect">
            <a:avLst>
              <a:gd name="adj" fmla="val 6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4231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3B63"/>
                </a:solidFill>
                <a:latin typeface="Cambria"/>
              </a:rPr>
              <a:t>Beyond LivSURF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017520"/>
            <a:ext cx="4023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1B1A18"/>
                </a:solidFill>
                <a:latin typeface="Calibri"/>
              </a:rPr>
              <a:t>In research and in industry you will get results that favour you.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1B1A18"/>
                </a:solidFill>
                <a:latin typeface="Calibri"/>
              </a:rPr>
              <a:t>What makes a result trustworthy is whether you were willing to test the thing that would embarrass you.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1B1A18"/>
                </a:solidFill>
                <a:latin typeface="Calibri"/>
              </a:rPr>
              <a:t>Directly useful for postgraduate study, and for any role that works with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B63"/>
                </a:solidFill>
                <a:latin typeface="Cambria"/>
              </a:rPr>
              <a:t>Skill 2  ·  Problem solving under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2E6F55"/>
                </a:solidFill>
                <a:latin typeface="Cambria"/>
              </a:rPr>
              <a:t>Diagnose by intervention, not by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3B63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B1A18"/>
                </a:solidFill>
                <a:latin typeface="Calibri"/>
              </a:rPr>
              <a:t>A curve that could not be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24328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57534B"/>
                </a:solidFill>
                <a:latin typeface="Calibri"/>
              </a:rPr>
              <a:t>Reused on a fading channel, the BER rose as the SNR rose. Our first explanation blamed deep fades.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3B63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B1A18"/>
                </a:solidFill>
                <a:latin typeface="Calibri"/>
              </a:rPr>
              <a:t>We tested instead of arguing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36008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57534B"/>
                </a:solidFill>
                <a:latin typeface="Calibri"/>
              </a:rPr>
              <a:t>Weights held fixed, one thing changed at a time. Erasing deep fades made it worse. The real cause was the quiet tail: at 18 dB, 89% of symbols were quieter than anything seen in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148840"/>
            <a:ext cx="4663440" cy="3840480"/>
          </a:xfrm>
          <a:prstGeom prst="roundRect">
            <a:avLst>
              <a:gd name="adj" fmla="val 6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4231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3B63"/>
                </a:solidFill>
                <a:latin typeface="Cambria"/>
              </a:rPr>
              <a:t>Beyond LivSURF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017520"/>
            <a:ext cx="4023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1B1A18"/>
                </a:solidFill>
                <a:latin typeface="Calibri"/>
              </a:rPr>
              <a:t>The first explanation for a bug is usually the most familiar one, not the right one.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1B1A18"/>
                </a:solidFill>
                <a:latin typeface="Calibri"/>
              </a:rPr>
              <a:t>Designing an experiment that can prove yourself wrong is faster than arguing about it.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1B1A18"/>
                </a:solidFill>
                <a:latin typeface="Calibri"/>
              </a:rPr>
              <a:t>That habit transfers to any engineering or analysis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What we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52120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honest answer under fading was "no gain".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That looks like a failed result, until you notice the interesting finding was somewhere else entirely.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91640"/>
            <a:ext cx="5212080" cy="3200400"/>
          </a:xfrm>
          <a:prstGeom prst="roundRect">
            <a:avLst>
              <a:gd name="adj" fmla="val 6000"/>
            </a:avLst>
          </a:prstGeom>
          <a:solidFill>
            <a:srgbClr val="2C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2057400"/>
            <a:ext cx="44805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 measurement that shows no gain is worth as much as one that shows a gain, provided it is clean enough to trust.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The case for an AI-native transceiver is not accuracy. It is that it needs no channel model, and we can now say what that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949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9C3DC"/>
                </a:solidFill>
                <a:latin typeface="Calibri"/>
              </a:rPr>
              <a:t>Notebook, figures and measured data: github.com/MaoYuxingy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